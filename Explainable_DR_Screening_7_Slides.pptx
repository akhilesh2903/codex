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76071" y="327327"/>
            <a:ext cx="1078992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rPr dirty="0"/>
              <a:t>EXPLAINABLE AI-BASED</a:t>
            </a:r>
          </a:p>
          <a:p>
            <a:pPr algn="ctr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rPr dirty="0"/>
              <a:t>DIABETIC RETINOPATHY SCREENING</a:t>
            </a:r>
            <a:r>
              <a:rPr lang="en-US" dirty="0"/>
              <a:t> IN RURAL AREAS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13232" y="266783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D2E1F5"/>
                </a:solidFill>
              </a:defRPr>
            </a:pPr>
            <a:r>
              <a:rPr dirty="0"/>
              <a:t>Robust retinal image analysis for rural telemedicine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9661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rPr dirty="0"/>
              <a:t>Python • Deep Learning • Computer Vision • Simulink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6925" y="4291759"/>
            <a:ext cx="4768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4C8DC"/>
                </a:solidFill>
              </a:defRPr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Team name:- CODEX</a:t>
            </a:r>
            <a:endParaRPr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08855-3576-FDAF-4861-B681547699AF}"/>
              </a:ext>
            </a:extLst>
          </p:cNvPr>
          <p:cNvSpPr txBox="1"/>
          <p:nvPr/>
        </p:nvSpPr>
        <p:spPr>
          <a:xfrm>
            <a:off x="3761296" y="5191780"/>
            <a:ext cx="61557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4C8DC"/>
                </a:solidFill>
              </a:defRPr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Team Members:-</a:t>
            </a:r>
          </a:p>
          <a:p>
            <a:pPr>
              <a:spcAft>
                <a:spcPts val="600"/>
              </a:spcAft>
              <a:defRPr sz="1600" b="0">
                <a:solidFill>
                  <a:srgbClr val="B4C8DC"/>
                </a:solidFill>
              </a:defRPr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    1.Akhilesh</a:t>
            </a:r>
          </a:p>
          <a:p>
            <a:pPr>
              <a:spcAft>
                <a:spcPts val="600"/>
              </a:spcAft>
              <a:defRPr sz="1600" b="0">
                <a:solidFill>
                  <a:srgbClr val="B4C8DC"/>
                </a:solidFill>
              </a:defRPr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   2.Karthik K M</a:t>
            </a:r>
            <a:endParaRPr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A69944-939B-A991-FC87-58C3D6528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213" y="1734532"/>
            <a:ext cx="4692850" cy="4626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9356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• Rural DR screening is difficult to scale because specialist ophthalmology resources are limited.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• Portable fundus cameras can produce blurred, poorly illuminated or otherwise </a:t>
            </a:r>
            <a:r>
              <a:rPr dirty="0" err="1"/>
              <a:t>ungradeable</a:t>
            </a:r>
            <a:r>
              <a:rPr dirty="0"/>
              <a:t> images.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• Black-box predictions are difficult for clinicians to validate quickly.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• Proposed solution: an end-to-end AI screening pipeline with quality control, retinal/lesion analysis, DR grading and explainability.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• AI supports screening and clinician review; it is not presented as an autonomous diagnosis.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3770E-EF1D-EB29-0D8A-B49025F0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048"/>
            <a:ext cx="12192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Fundus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Image acquisition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92807" y="2578608"/>
            <a:ext cx="109729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02536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7128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Quality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Focus • Illumination • FOV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75304" y="2578608"/>
            <a:ext cx="109727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85031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9623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3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CLAHE • Denoising • Normalization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799" y="2578608"/>
            <a:ext cx="109728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67527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19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Retinal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19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Disc • Fovea • Vessels • Lesions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0295" y="2578608"/>
            <a:ext cx="109728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50023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14615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AI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615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DR Level 0–4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22792" y="2578608"/>
            <a:ext cx="109727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32519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7111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XAI +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1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Grad-CAM • Evidence • Confidence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305288" y="2578608"/>
            <a:ext cx="109727" cy="0"/>
          </a:xfrm>
          <a:prstGeom prst="line">
            <a:avLst/>
          </a:prstGeom>
          <a:ln w="2540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15015" y="1828800"/>
            <a:ext cx="15727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79607" y="1975104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Doctor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9607" y="2395728"/>
            <a:ext cx="12435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Confirm • Reject • Recapture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1549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33C"/>
                </a:solidFill>
              </a:defRPr>
            </a:pPr>
            <a:r>
              <a:t>Python AI pipeline + MATLAB image processing + Simulink deployment/resource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7D4F97D-934A-A7A1-96AE-51C14B89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25"/>
          <a:stretch>
            <a:fillRect/>
          </a:stretch>
        </p:blipFill>
        <p:spPr>
          <a:xfrm>
            <a:off x="164801" y="1430972"/>
            <a:ext cx="11862092" cy="3131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t>AI &amp; Image Processing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517904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Quality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Blur/focus score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Brightness &amp; contrast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Field-of-view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0712" y="1517904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1938528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CLAHE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Illumination normalization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Denoising &amp; resizing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7160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1517904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938528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U-Net based vessels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Optic disc / fovea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Lesion masks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37160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2" y="1517904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1938528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EfficientNet / ResNet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Transfer learning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DR Level 0–4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4233C"/>
                </a:solidFill>
              </a:defRPr>
            </a:pPr>
            <a:r>
              <a:t>Key Python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77639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2830"/>
                </a:solidFill>
              </a:defRPr>
            </a:pPr>
            <a:r>
              <a:t>NumPy • Pandas • OpenCV • Scikit-learn • PyTorch/TensorFlow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CEAA24-948B-33AC-19AB-720F0DE5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26"/>
          <a:stretch>
            <a:fillRect/>
          </a:stretch>
        </p:blipFill>
        <p:spPr>
          <a:xfrm>
            <a:off x="52319" y="1328069"/>
            <a:ext cx="12056882" cy="3781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t>Explainability &amp; Clinical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47218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Model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92807"/>
            <a:ext cx="296265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DR Severity: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Level 0 / 1 / 2 / 3 / 4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Referable screening flag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47218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892807"/>
            <a:ext cx="296265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Grad-CAM attention map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Lesion-level evidence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Microaneurysm / hemorrhage / exudate locations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Calibrated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3258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47218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Screening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892807"/>
            <a:ext cx="296265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Image quality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Predicted grade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Confidence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Detected findings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Annotated image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Ophthalmologist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4233C"/>
                </a:solidFill>
              </a:defRPr>
            </a:pPr>
            <a:r>
              <a:t>Human-in-the-loop: AI provides evidence → ophthalmologist validates the screening result.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D087A1-A6EF-FFD8-1F73-B542EAF25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124"/>
            <a:ext cx="12192000" cy="4202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6095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rPr dirty="0"/>
              <a:t>Simulink Telemedicine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Patient Arrival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100,000+ annual target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697480"/>
            <a:ext cx="13716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13432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78024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Image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Station capacity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50791" y="2697480"/>
            <a:ext cx="137161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15384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AI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Inference throughput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2744" y="2697480"/>
            <a:ext cx="13716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17336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Image size / bandwidth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4696" y="2697480"/>
            <a:ext cx="13716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19288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Doctor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Review capacity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6648" y="2697480"/>
            <a:ext cx="13716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21240" y="1874519"/>
            <a:ext cx="1737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85832" y="2020824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2441448"/>
            <a:ext cx="1408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Referral /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725943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• Measure queue length, processing time, throughput and resource utilization.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• Test different numbers of screening stations, AI servers and ophthalmologist reviewers.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• Use simulation results to study district-level capacity and bottlenecks.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DE66C6-B2A0-03D0-6144-BAFDB86B4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195"/>
            <a:ext cx="12192000" cy="3642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33C"/>
                </a:solidFill>
              </a:defRPr>
            </a:pPr>
            <a:r>
              <a:t>Datasets, Validation &amp; Implementation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426463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A68B4"/>
                </a:solidFill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31455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APTOS 2019: DR grading (0–4)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IDRiD: lesion-level analysis + grading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External dataset: generalization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426463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825A"/>
                </a:solidFill>
              </a:defRPr>
            </a:pPr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47088"/>
            <a:ext cx="31455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Patient-level train/validation/test split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Sensitivity &amp; specificity for referable DR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ROC-AUC, PR-AUC, F1, calibration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Robustness to image-quality variation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426463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E4646"/>
                </a:solidFill>
              </a:defRPr>
            </a:pPr>
            <a:r>
              <a:t>Target &amp;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47088"/>
            <a:ext cx="31455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Target: &gt;90% sensitivity and &gt;85% specificity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Phase 1: quality + classifier + Grad-CAM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Phase 2: segmentation + lesions</a:t>
            </a:r>
          </a:p>
          <a:p>
            <a:pPr>
              <a:spcAft>
                <a:spcPts val="600"/>
              </a:spcAft>
              <a:defRPr sz="1300" b="0">
                <a:solidFill>
                  <a:srgbClr val="232830"/>
                </a:solidFill>
              </a:defRPr>
            </a:pPr>
            <a:r>
              <a:t>Phase 3: API/dashboard + Simulink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43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32830"/>
                </a:solidFill>
              </a:defRPr>
            </a:pPr>
            <a:r>
              <a:t>Fundus image → quality decision → DR grade → explainable evidence → clinical report → telemedicine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476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rohini61703@gmail.com</cp:lastModifiedBy>
  <cp:revision>5</cp:revision>
  <dcterms:created xsi:type="dcterms:W3CDTF">2013-01-27T09:14:16Z</dcterms:created>
  <dcterms:modified xsi:type="dcterms:W3CDTF">2026-09-30T07:06:28Z</dcterms:modified>
  <cp:category/>
</cp:coreProperties>
</file>